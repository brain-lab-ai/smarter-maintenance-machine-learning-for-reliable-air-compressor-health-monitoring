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Outfit" panose="020B0604020202020204" charset="0"/>
      <p:regular r:id="rId15"/>
      <p:bold r:id="rId16"/>
    </p:embeddedFont>
    <p:embeddedFont>
      <p:font typeface="Space Grotesk" panose="020B060402020202020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4472B94-B558-45DA-A361-17F30F2D043E}">
  <a:tblStyle styleId="{14472B94-B558-45DA-A361-17F30F2D04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48" y="2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1128a775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2" name="Google Shape;132;g391128a775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90609487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a90609487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0" name="Google Shape;1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8f81f191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9" name="Google Shape;159;g3a8f81f19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1" name="Google Shape;1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1128a775c_0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91128a775c_0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5" name="Google Shape;2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91128a775c_0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4" name="Google Shape;294;g391128a775c_0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2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3" Type="http://schemas.openxmlformats.org/officeDocument/2006/relationships/image" Target="../media/image28.png"/><Relationship Id="rId21" Type="http://schemas.openxmlformats.org/officeDocument/2006/relationships/image" Target="../media/image46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5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24" Type="http://schemas.openxmlformats.org/officeDocument/2006/relationships/image" Target="../media/image49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23" Type="http://schemas.openxmlformats.org/officeDocument/2006/relationships/image" Target="../media/image48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Relationship Id="rId22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4429869"/>
            <a:ext cx="8572500" cy="156969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809750" y="953690"/>
            <a:ext cx="8572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RESEARCH PRESENTATION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031100" y="1366975"/>
            <a:ext cx="10129800" cy="23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Smarter Maintenance Machine Learning for Reliable Air Compressor Health Monitoring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009775" y="4677519"/>
            <a:ext cx="8172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A3E635"/>
                </a:solidFill>
                <a:latin typeface="Outfit"/>
                <a:ea typeface="Outfit"/>
                <a:cs typeface="Outfit"/>
                <a:sym typeface="Outfit"/>
              </a:rPr>
              <a:t>Presented By: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Khalid Alyahya &amp; Abdullah Alsagoor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009775" y="5029944"/>
            <a:ext cx="8172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A3E635"/>
                </a:solidFill>
                <a:latin typeface="Outfit"/>
                <a:ea typeface="Outfit"/>
                <a:cs typeface="Outfit"/>
                <a:sym typeface="Outfit"/>
              </a:rPr>
              <a:t>Supervisor: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Dr. Muzammil Behzad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2009775" y="5477619"/>
            <a:ext cx="81724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King Fahd University of Petroleum and Minerals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173" y="2881312"/>
            <a:ext cx="201543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34729" y="2881312"/>
            <a:ext cx="201543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88284" y="2881312"/>
            <a:ext cx="201543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41840" y="2881312"/>
            <a:ext cx="201543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95395" y="2881312"/>
            <a:ext cx="2015430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098518" y="4167187"/>
            <a:ext cx="98059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Objective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3173614" y="4167187"/>
            <a:ext cx="133751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at Hand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5247925" y="4033837"/>
            <a:ext cx="1696149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Existing Approach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7520233" y="4167187"/>
            <a:ext cx="165864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Proposed Model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0213378" y="4167187"/>
            <a:ext cx="77931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17439" y="34718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90044" y="3471862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24550" y="34718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35242" y="3471862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771525" y="581025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Agenda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581025" y="581025"/>
            <a:ext cx="57150" cy="5048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350700" y="3390890"/>
            <a:ext cx="504825" cy="5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01" grpId="0"/>
      <p:bldP spid="102" grpId="0"/>
      <p:bldP spid="103" grpId="0"/>
      <p:bldP spid="10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205037"/>
            <a:ext cx="34226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4625" y="2205037"/>
            <a:ext cx="34226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88225" y="2205037"/>
            <a:ext cx="3422749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54125" y="262413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1005058" y="3338512"/>
            <a:ext cx="2574384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Unpredicted Downtime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876300" y="3948112"/>
            <a:ext cx="28320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Immediate operational halts and efficiency losses.</a:t>
            </a:r>
            <a:endParaRPr sz="1350">
              <a:solidFill>
                <a:srgbClr val="94A3B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29151" y="2624137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4766150" y="3338512"/>
            <a:ext cx="265955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Expensive Maintenance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679900" y="3948112"/>
            <a:ext cx="2832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Reactive repairs exceed planned costs; premium pricing for emergency labor.</a:t>
            </a:r>
            <a:endParaRPr sz="1350">
              <a:solidFill>
                <a:srgbClr val="94A3B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25" name="Google Shape;12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90050" y="2624137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8972769" y="3338512"/>
            <a:ext cx="185351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Safety Incidents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8483500" y="3948112"/>
            <a:ext cx="28323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High-pressure failures threaten on-site personnel and infrastructure.</a:t>
            </a:r>
            <a:endParaRPr sz="1350">
              <a:solidFill>
                <a:srgbClr val="94A3B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771525" y="581025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Main Issues of Compressor Malfunctions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581025" y="581025"/>
            <a:ext cx="57150" cy="5048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/>
      <p:bldP spid="121" grpId="0"/>
      <p:bldP spid="123" grpId="0"/>
      <p:bldP spid="124" grpId="0"/>
      <p:bldP spid="126" grpId="0"/>
      <p:bldP spid="1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 txBox="1"/>
          <p:nvPr/>
        </p:nvSpPr>
        <p:spPr>
          <a:xfrm>
            <a:off x="771525" y="581025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n-US" sz="3150" b="1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Objective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581025" y="581025"/>
            <a:ext cx="57300" cy="5049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1819900" y="2222100"/>
            <a:ext cx="9488700" cy="16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enable reliable, automated health monitoring by a robust deep learning model, ensuring timely fault detection and minimizing unplanned downtime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300" y="2611875"/>
            <a:ext cx="1084126" cy="867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/>
          <p:nvPr/>
        </p:nvSpPr>
        <p:spPr>
          <a:xfrm>
            <a:off x="771525" y="581025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n-US" sz="3150" b="1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Objective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581025" y="581025"/>
            <a:ext cx="57300" cy="5049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49125" y="1762137"/>
            <a:ext cx="34226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52725" y="1762137"/>
            <a:ext cx="34226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3056675" y="2615700"/>
            <a:ext cx="3007500" cy="16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solidFill>
                  <a:srgbClr val="F87171"/>
                </a:solidFill>
                <a:latin typeface="Outfit"/>
                <a:ea typeface="Outfit"/>
                <a:cs typeface="Outfit"/>
                <a:sym typeface="Outfit"/>
              </a:rPr>
              <a:t>Current Practice</a:t>
            </a:r>
            <a:endParaRPr sz="2400" b="1">
              <a:solidFill>
                <a:srgbClr val="F8717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REACTIVE APPROACH</a:t>
            </a:r>
            <a:endParaRPr sz="2000" b="1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"Run-to-Failure"</a:t>
            </a:r>
            <a:endParaRPr sz="180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6756475" y="2615700"/>
            <a:ext cx="3215100" cy="16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A3E635"/>
                </a:solidFill>
                <a:latin typeface="Outfit"/>
                <a:ea typeface="Outfit"/>
                <a:cs typeface="Outfit"/>
                <a:sym typeface="Outfit"/>
              </a:rPr>
              <a:t>Proposal</a:t>
            </a:r>
            <a:endParaRPr sz="2400" b="1">
              <a:solidFill>
                <a:srgbClr val="F8717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PROACTIVE APPROACH</a:t>
            </a:r>
            <a:endParaRPr sz="2000" b="1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"Predict &amp; Prevent"</a:t>
            </a:r>
            <a:endParaRPr sz="180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000" b="1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/>
      <p:bldP spid="14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 txBox="1"/>
          <p:nvPr/>
        </p:nvSpPr>
        <p:spPr>
          <a:xfrm>
            <a:off x="771525" y="581025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at Hand: 5 Categories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581025" y="581025"/>
            <a:ext cx="57150" cy="5048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8"/>
          <p:cNvPicPr preferRelativeResize="0"/>
          <p:nvPr/>
        </p:nvPicPr>
        <p:blipFill rotWithShape="1">
          <a:blip r:embed="rId3">
            <a:alphaModFix/>
          </a:blip>
          <a:srcRect t="2969"/>
          <a:stretch/>
        </p:blipFill>
        <p:spPr>
          <a:xfrm>
            <a:off x="581025" y="1394950"/>
            <a:ext cx="4323925" cy="255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2800" y="1394950"/>
            <a:ext cx="6363949" cy="5282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1025" y="4123700"/>
            <a:ext cx="4323926" cy="255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466850"/>
            <a:ext cx="5696925" cy="870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51645"/>
            <a:ext cx="5696925" cy="870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436441"/>
            <a:ext cx="5696925" cy="870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421386"/>
            <a:ext cx="5696925" cy="870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5406331"/>
            <a:ext cx="5696925" cy="87064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733425" y="1778198"/>
            <a:ext cx="1462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Inlet Valve Fault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2603752" y="1810882"/>
            <a:ext cx="34701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25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Improper seating due to rust or bending.</a:t>
            </a: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733425" y="2762994"/>
            <a:ext cx="162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Outlet Valve Fault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2603752" y="2795678"/>
            <a:ext cx="32361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25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Fluttering caused by bent outlet plate.</a:t>
            </a: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733425" y="3747938"/>
            <a:ext cx="1578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Inlet/Outlet Fault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2603752" y="3780621"/>
            <a:ext cx="29883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25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Combined fluttering in both valves.</a:t>
            </a: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733425" y="4732883"/>
            <a:ext cx="173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Control Valve Fault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2603752" y="4765565"/>
            <a:ext cx="29055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25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Loss of stiffness in internal spring.</a:t>
            </a: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733425" y="5717826"/>
            <a:ext cx="2009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Healthy Condition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2603752" y="5750508"/>
            <a:ext cx="30297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25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Normal operation, no degradation.</a:t>
            </a: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771525" y="581025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at Hand: 5 Categories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581025" y="581025"/>
            <a:ext cx="57300" cy="5049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8" name="Google Shape;178;p19"/>
          <p:cNvGraphicFramePr/>
          <p:nvPr/>
        </p:nvGraphicFramePr>
        <p:xfrm>
          <a:off x="7348025" y="1065825"/>
          <a:ext cx="3949975" cy="5211250"/>
        </p:xfrm>
        <a:graphic>
          <a:graphicData uri="http://schemas.openxmlformats.org/drawingml/2006/table">
            <a:tbl>
              <a:tblPr>
                <a:noFill/>
                <a:tableStyleId>{14472B94-B558-45DA-A361-17F30F2D043E}</a:tableStyleId>
              </a:tblPr>
              <a:tblGrid>
                <a:gridCol w="88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3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>
                          <a:solidFill>
                            <a:schemeClr val="lt1"/>
                          </a:solidFill>
                        </a:rPr>
                        <a:t>#</a:t>
                      </a:r>
                      <a:endParaRPr sz="105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>
                          <a:solidFill>
                            <a:schemeClr val="lt1"/>
                          </a:solidFill>
                        </a:rPr>
                        <a:t>Time</a:t>
                      </a:r>
                      <a:endParaRPr sz="105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>
                          <a:solidFill>
                            <a:schemeClr val="lt1"/>
                          </a:solidFill>
                        </a:rPr>
                        <a:t>Acceleration</a:t>
                      </a:r>
                      <a:endParaRPr sz="105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>
                          <a:solidFill>
                            <a:schemeClr val="lt1"/>
                          </a:solidFill>
                        </a:rPr>
                        <a:t>Status</a:t>
                      </a:r>
                      <a:endParaRPr sz="105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1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15.625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-0.77155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CVF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2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15.62504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-0.80461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CVF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10001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16.40625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0.49576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IOVF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10002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16.40629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0.453774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IOVF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20001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16.40625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1.531134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GOOD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20002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16.40629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0.428262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GOOD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20003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16.40633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2.629368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GOOD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30001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31.25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-1.15222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IVF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6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30003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31.25016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-0.77506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IVF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6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40019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32.81391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0.785439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OVF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6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40020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32.81398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0.671792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OVF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552575"/>
            <a:ext cx="5229225" cy="463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552575"/>
            <a:ext cx="5229225" cy="463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971550" y="1943100"/>
            <a:ext cx="4670583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F472B6"/>
                </a:solidFill>
                <a:latin typeface="Space Grotesk"/>
                <a:ea typeface="Space Grotesk"/>
                <a:cs typeface="Space Grotesk"/>
                <a:sym typeface="Space Grotesk"/>
              </a:rPr>
              <a:t>Existing Approach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971550" y="2428875"/>
            <a:ext cx="44481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6772275" y="1943100"/>
            <a:ext cx="4670583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F87171"/>
                </a:solidFill>
                <a:latin typeface="Space Grotesk"/>
                <a:ea typeface="Space Grotesk"/>
                <a:cs typeface="Space Grotesk"/>
                <a:sym typeface="Space Grotesk"/>
              </a:rPr>
              <a:t>Critical Limitations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6772275" y="2428875"/>
            <a:ext cx="44481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1257300" y="2628900"/>
            <a:ext cx="41624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Methods: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Recent papers (Nambiar et al. 2024, Bhattacharyya et al. 2025) report near-perfect accuracy (98-100%).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1257300" y="3686175"/>
            <a:ext cx="41625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Technique: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Heavily rely on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handcrafted features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(Statistical, Histogram, ARMA</a:t>
            </a:r>
            <a:r>
              <a:rPr lang="en-US"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, radar 2D images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) and classifiers like kNN or WiSARD.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1257300" y="4743450"/>
            <a:ext cx="41624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Preprocessing: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Requires significant manual tuning and expert domain knowledge to extract features.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7058025" y="2628900"/>
            <a:ext cx="41624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Scalability: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Handcrafted pipelines are hard to scale to different machines or operating conditions.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7058025" y="3686175"/>
            <a:ext cx="41624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Validation Leakage: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Use of simple random splits allows models to "memorize" temporal patterns, inflating accuracy.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7058025" y="4743450"/>
            <a:ext cx="41624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No Blind Test: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Lack of strict, time-separated blind testing masks the model's true generalization ability on unseen data.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771525" y="581025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Existing Approach &amp; Limitations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581025" y="581025"/>
            <a:ext cx="57150" cy="5048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26670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37242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47815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72275" y="26670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72275" y="37242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72275" y="4781550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466850"/>
            <a:ext cx="2614612" cy="4810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86137" y="1466850"/>
            <a:ext cx="2614612" cy="4810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1466850"/>
            <a:ext cx="2614612" cy="4810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96362" y="1466850"/>
            <a:ext cx="2614612" cy="4810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3425" y="2238375"/>
            <a:ext cx="2309812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3425" y="2828925"/>
            <a:ext cx="2309812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33425" y="3228975"/>
            <a:ext cx="2309812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33425" y="3819525"/>
            <a:ext cx="2309812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33425" y="4219575"/>
            <a:ext cx="2309812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538537" y="2238375"/>
            <a:ext cx="2309812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538537" y="2828925"/>
            <a:ext cx="2309812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538537" y="3228975"/>
            <a:ext cx="2309812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538537" y="3533775"/>
            <a:ext cx="2309812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538537" y="3933825"/>
            <a:ext cx="2309812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538537" y="4429125"/>
            <a:ext cx="2309812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3538537" y="4829175"/>
            <a:ext cx="2309812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343650" y="2238375"/>
            <a:ext cx="2309812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343650" y="2828925"/>
            <a:ext cx="2309812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6343650" y="3228975"/>
            <a:ext cx="2309812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1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343650" y="3533775"/>
            <a:ext cx="2309812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6343650" y="3933825"/>
            <a:ext cx="2309812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343650" y="4238625"/>
            <a:ext cx="2309812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6343650" y="4829175"/>
            <a:ext cx="2309812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343650" y="5229225"/>
            <a:ext cx="2309812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1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9148762" y="2238375"/>
            <a:ext cx="2309812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148762" y="2828925"/>
            <a:ext cx="2309812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 descr="image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9148762" y="3228975"/>
            <a:ext cx="2309812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148762" y="3533775"/>
            <a:ext cx="2309812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 descr="image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9148762" y="3933825"/>
            <a:ext cx="2309812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9148762" y="4238625"/>
            <a:ext cx="2309812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 descr="image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9148762" y="4829175"/>
            <a:ext cx="2309812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 descr="image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9148762" y="5229225"/>
            <a:ext cx="2309812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1131093" y="1619250"/>
            <a:ext cx="1514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A3E635"/>
                </a:solidFill>
                <a:latin typeface="Outfit"/>
                <a:ea typeface="Outfit"/>
                <a:cs typeface="Outfit"/>
                <a:sym typeface="Outfit"/>
              </a:rPr>
              <a:t>Model 1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Baseline BiGRU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3950493" y="1619250"/>
            <a:ext cx="148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A3E635"/>
                </a:solidFill>
                <a:latin typeface="Outfit"/>
                <a:ea typeface="Outfit"/>
                <a:cs typeface="Outfit"/>
                <a:sym typeface="Outfit"/>
              </a:rPr>
              <a:t>Model 2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Conv1D + GRU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6717506" y="1619250"/>
            <a:ext cx="1562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A3E635"/>
                </a:solidFill>
                <a:latin typeface="Outfit"/>
                <a:ea typeface="Outfit"/>
                <a:cs typeface="Outfit"/>
                <a:sym typeface="Outfit"/>
              </a:rPr>
              <a:t>Model 3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Proposed (Reg.)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9436893" y="1619250"/>
            <a:ext cx="1733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A3E635"/>
                </a:solidFill>
                <a:latin typeface="Outfit"/>
                <a:ea typeface="Outfit"/>
                <a:cs typeface="Outfit"/>
                <a:sym typeface="Outfit"/>
              </a:rPr>
              <a:t>Model 4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Proposed (No Reg)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9751218" y="5962650"/>
            <a:ext cx="1104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A3E635"/>
                </a:solidFill>
                <a:latin typeface="Outfit"/>
                <a:ea typeface="Outfit"/>
                <a:cs typeface="Outfit"/>
                <a:sym typeface="Outfit"/>
              </a:rPr>
              <a:t>★ Best Performance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21" descr="image.png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1845468" y="2638425"/>
            <a:ext cx="8572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 descr="image.png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1845468" y="3629025"/>
            <a:ext cx="8572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 descr="image.png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4650581" y="2638425"/>
            <a:ext cx="8572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 descr="image.png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4650581" y="4238625"/>
            <a:ext cx="8572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 descr="image.png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7455693" y="2638425"/>
            <a:ext cx="8572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 descr="image.png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7455693" y="4638675"/>
            <a:ext cx="8572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1" descr="image.png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10260806" y="2638425"/>
            <a:ext cx="8572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1" descr="image.png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10260806" y="4638675"/>
            <a:ext cx="8572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 txBox="1"/>
          <p:nvPr/>
        </p:nvSpPr>
        <p:spPr>
          <a:xfrm>
            <a:off x="771525" y="581025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 Architectures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581025" y="581025"/>
            <a:ext cx="57300" cy="5049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"/>
          <p:cNvSpPr/>
          <p:nvPr/>
        </p:nvSpPr>
        <p:spPr>
          <a:xfrm>
            <a:off x="7337525" y="2128884"/>
            <a:ext cx="3436800" cy="37032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581025" y="1713607"/>
            <a:ext cx="549068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End-to-End Architecture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581025" y="2247007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 hybrid deep learning model that learns directly from raw signals.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866775" y="3047107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Input: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Raw vibration windows (150 samples, Stride 10).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866775" y="3494782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Core Layers: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Conv1D (Feature Extraction) + BiGRU (Temporal Dependencies).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866775" y="4247257"/>
            <a:ext cx="4943475" cy="1640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Hyperparameters: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2"/>
          <p:cNvSpPr txBox="1"/>
          <p:nvPr/>
        </p:nvSpPr>
        <p:spPr>
          <a:xfrm>
            <a:off x="1343025" y="4969222"/>
            <a:ext cx="44672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Optimizer: Adam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2"/>
          <p:cNvSpPr txBox="1"/>
          <p:nvPr/>
        </p:nvSpPr>
        <p:spPr>
          <a:xfrm>
            <a:off x="1343025" y="5291137"/>
            <a:ext cx="44672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Loss: Categorical Cross-Entropy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2"/>
          <p:cNvSpPr txBox="1"/>
          <p:nvPr/>
        </p:nvSpPr>
        <p:spPr>
          <a:xfrm>
            <a:off x="1343025" y="5613052"/>
            <a:ext cx="44672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Validation: 5-Fold Stratified CV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771525" y="581025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Proposed Methodology: </a:t>
            </a:r>
            <a:r>
              <a:rPr lang="en-US" sz="3150" b="1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Hybrid </a:t>
            </a:r>
            <a:r>
              <a:rPr lang="en-US" sz="315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Sequence Learning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581025" y="581025"/>
            <a:ext cx="57150" cy="5048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308520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353288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4285357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2"/>
          <p:cNvSpPr txBox="1"/>
          <p:nvPr/>
        </p:nvSpPr>
        <p:spPr>
          <a:xfrm>
            <a:off x="1343025" y="4647307"/>
            <a:ext cx="44672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Batch Size: 128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7275" y="468540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7275" y="500732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7275" y="532923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7275" y="5651152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2"/>
          <p:cNvSpPr txBox="1"/>
          <p:nvPr/>
        </p:nvSpPr>
        <p:spPr>
          <a:xfrm>
            <a:off x="8121900" y="1660463"/>
            <a:ext cx="1935600" cy="830100"/>
          </a:xfrm>
          <a:prstGeom prst="rect">
            <a:avLst/>
          </a:prstGeom>
          <a:solidFill>
            <a:srgbClr val="192336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Problem Understanding</a:t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2"/>
          <p:cNvSpPr txBox="1"/>
          <p:nvPr/>
        </p:nvSpPr>
        <p:spPr>
          <a:xfrm>
            <a:off x="9766125" y="2885354"/>
            <a:ext cx="1935600" cy="830100"/>
          </a:xfrm>
          <a:prstGeom prst="rect">
            <a:avLst/>
          </a:prstGeom>
          <a:solidFill>
            <a:srgbClr val="192336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Problem Understanding</a:t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2"/>
          <p:cNvSpPr txBox="1"/>
          <p:nvPr/>
        </p:nvSpPr>
        <p:spPr>
          <a:xfrm>
            <a:off x="9766125" y="4110246"/>
            <a:ext cx="1935600" cy="830100"/>
          </a:xfrm>
          <a:prstGeom prst="rect">
            <a:avLst/>
          </a:prstGeom>
          <a:solidFill>
            <a:srgbClr val="192336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Problem Understanding</a:t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2"/>
          <p:cNvSpPr txBox="1"/>
          <p:nvPr/>
        </p:nvSpPr>
        <p:spPr>
          <a:xfrm>
            <a:off x="8121900" y="5335138"/>
            <a:ext cx="1935600" cy="830100"/>
          </a:xfrm>
          <a:prstGeom prst="rect">
            <a:avLst/>
          </a:prstGeom>
          <a:solidFill>
            <a:srgbClr val="192336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Problem Understanding</a:t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6477675" y="2885354"/>
            <a:ext cx="1935600" cy="830100"/>
          </a:xfrm>
          <a:prstGeom prst="rect">
            <a:avLst/>
          </a:prstGeom>
          <a:solidFill>
            <a:srgbClr val="192336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Problem Understanding</a:t>
            </a:r>
            <a:endParaRPr sz="19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6477675" y="4110246"/>
            <a:ext cx="1935600" cy="830100"/>
          </a:xfrm>
          <a:prstGeom prst="rect">
            <a:avLst/>
          </a:prstGeom>
          <a:solidFill>
            <a:srgbClr val="192336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Problem Understanding</a:t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466850"/>
            <a:ext cx="1102995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3"/>
          <p:cNvSpPr/>
          <p:nvPr/>
        </p:nvSpPr>
        <p:spPr>
          <a:xfrm>
            <a:off x="581025" y="4581525"/>
            <a:ext cx="11029950" cy="1200150"/>
          </a:xfrm>
          <a:prstGeom prst="roundRect">
            <a:avLst>
              <a:gd name="adj" fmla="val 6349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3"/>
          <p:cNvSpPr txBox="1"/>
          <p:nvPr/>
        </p:nvSpPr>
        <p:spPr>
          <a:xfrm>
            <a:off x="723900" y="4724400"/>
            <a:ext cx="10744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1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Key Findings:</a:t>
            </a:r>
            <a:r>
              <a:rPr lang="en-US" sz="1500" b="0" i="1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The non-regularized Conv1D-BiGRU (Model 4) achieved the highest blind-test accuracy.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1" u="none" strike="noStrike" cap="non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PyTorch Stability:</a:t>
            </a:r>
            <a:r>
              <a:rPr lang="en-US" sz="1500" b="0" i="1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Unlike TensorFlow, PyTorch showed high consistency between CV scores (&gt;98%) and blind test results (&gt;91%), proving the model learns true physical features, not just noise.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3"/>
          <p:cNvSpPr txBox="1"/>
          <p:nvPr/>
        </p:nvSpPr>
        <p:spPr>
          <a:xfrm>
            <a:off x="771525" y="581025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Results &amp; Findings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3"/>
          <p:cNvSpPr/>
          <p:nvPr/>
        </p:nvSpPr>
        <p:spPr>
          <a:xfrm>
            <a:off x="581025" y="581025"/>
            <a:ext cx="57150" cy="5048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 txBox="1"/>
          <p:nvPr/>
        </p:nvSpPr>
        <p:spPr>
          <a:xfrm>
            <a:off x="771525" y="581025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Results &amp; Findings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581025" y="581025"/>
            <a:ext cx="57300" cy="5049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" name="Google Shape;29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025" y="1693613"/>
            <a:ext cx="4668874" cy="370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7650" y="1693625"/>
            <a:ext cx="6192249" cy="370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524</Words>
  <Application>Microsoft Office PowerPoint</Application>
  <PresentationFormat>Widescreen</PresentationFormat>
  <Paragraphs>121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Arial</vt:lpstr>
      <vt:lpstr>Space Grotesk</vt:lpstr>
      <vt:lpstr>Outfit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Khalid Alyahya</dc:creator>
  <cp:lastModifiedBy>Khalid Alyahya</cp:lastModifiedBy>
  <cp:revision>1</cp:revision>
  <dcterms:modified xsi:type="dcterms:W3CDTF">2025-11-23T19:22:02Z</dcterms:modified>
</cp:coreProperties>
</file>